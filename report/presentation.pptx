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Smart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2200" b="0">
                <a:solidFill>
                  <a:srgbClr val="CADCFC"/>
                </a:solidFill>
                <a:latin typeface="Calibri"/>
              </a:defRPr>
            </a:pPr>
            <a:r>
              <a:t>End-to-End Deep Learning on Amazon Reviews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749039"/>
            <a:ext cx="2103120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  <a:latin typeface="Calibri"/>
              </a:defRPr>
            </a:pPr>
            <a:r>
              <a:t>Khazar University — Hands-on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Eltun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 The Problem &amp; Dataset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Building a multi-modal assistant for Amazon's Toys &amp; Games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800" b="1">
                <a:solidFill>
                  <a:srgbClr val="2980B9"/>
                </a:solidFill>
                <a:latin typeface="Calibri"/>
              </a:defRPr>
            </a:pPr>
            <a:r>
              <a:t>Project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Apply every major deep learning technique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to a single coherent product dataset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Build progressively: baseline → LLMs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Integrate all 6 models into one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800" b="1">
                <a:solidFill>
                  <a:srgbClr val="2980B9"/>
                </a:solidFill>
                <a:latin typeface="Calibri"/>
              </a:defRPr>
            </a:pPr>
            <a:r>
              <a:t>Dataset: Amazon Reviews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Category: Toys &amp; Games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15,000 unique products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75,000 customer reviews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7,996 cached product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2468880" cy="128016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15K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554480"/>
            <a:ext cx="2468880" cy="12801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75K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17520"/>
            <a:ext cx="2468880" cy="12801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8K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Images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017520"/>
            <a:ext cx="2468880" cy="12801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21208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400" b="1">
                <a:solidFill>
                  <a:srgbClr val="2980B9"/>
                </a:solidFill>
                <a:latin typeface="Calibri"/>
              </a:defRPr>
            </a:pPr>
            <a:r>
              <a:t>Split by PRODUCT (not by review)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1206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Train: 12,000 / Val: 1,500 / Test: 1,500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Intersection = 0 ✓ (zero leakage)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 Six Architectures, One System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Every major deep learning technique applied to the same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200400" cy="21031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365760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M1: MLP</a:t>
            </a:r>
          </a:p>
          <a:p/>
          <a:p>
            <a:pPr algn="ctr">
              <a:defRPr sz="1300">
                <a:solidFill>
                  <a:srgbClr val="FFFFFF"/>
                </a:solidFill>
              </a:defRPr>
            </a:pPr>
            <a:r>
              <a:t>Tabular features → rating band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280160"/>
            <a:ext cx="3200400" cy="21031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365760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M2: CNN Transfer</a:t>
            </a:r>
          </a:p>
          <a:p/>
          <a:p>
            <a:pPr algn="ctr">
              <a:defRPr sz="1300">
                <a:solidFill>
                  <a:srgbClr val="FFFFFF"/>
                </a:solidFill>
              </a:defRPr>
            </a:pPr>
            <a:r>
              <a:t>Images → 6 subcategories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280160"/>
            <a:ext cx="3200400" cy="21031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365760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M3: Embeddings</a:t>
            </a:r>
          </a:p>
          <a:p/>
          <a:p>
            <a:pPr algn="ctr">
              <a:defRPr sz="1300">
                <a:solidFill>
                  <a:srgbClr val="FFFFFF"/>
                </a:solidFill>
              </a:defRPr>
            </a:pPr>
            <a:r>
              <a:t>Text → sentiment +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3200400" cy="21031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365760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M4: DistilBERT</a:t>
            </a:r>
          </a:p>
          <a:p/>
          <a:p>
            <a:pPr algn="ctr">
              <a:defRPr sz="1300">
                <a:solidFill>
                  <a:srgbClr val="FFFFFF"/>
                </a:solidFill>
              </a:defRPr>
            </a:pPr>
            <a:r>
              <a:t>Fine-tuned transformer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749039"/>
            <a:ext cx="3200400" cy="21031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365760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M5: LLM + RAG</a:t>
            </a:r>
          </a:p>
          <a:p/>
          <a:p>
            <a:pPr algn="ctr">
              <a:defRPr sz="1300">
                <a:solidFill>
                  <a:srgbClr val="FFFFFF"/>
                </a:solidFill>
              </a:defRPr>
            </a:pPr>
            <a:r>
              <a:t>Llama 3.1 + grounding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3749039"/>
            <a:ext cx="3200400" cy="21031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365760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M6: Diffusion</a:t>
            </a:r>
          </a:p>
          <a:p/>
          <a:p>
            <a:pPr algn="ctr">
              <a:defRPr sz="1300">
                <a:solidFill>
                  <a:srgbClr val="FFFFFF"/>
                </a:solidFill>
              </a:defRPr>
            </a:pPr>
            <a:r>
              <a:t>Stable Diffusion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↓  All integrated into one Streamlit demo app  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Headline Results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Every milestone evaluated against a simple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2286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+15.0%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M1 MLP</a:t>
            </a:r>
            <a:br/>
            <a:r>
              <a:t>vs LogReg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2743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F1: 0.37 → 0.43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743200" cy="2286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66%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M2 MobileNetV2</a:t>
            </a:r>
            <a:br/>
            <a:r>
              <a:t>image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840480"/>
            <a:ext cx="2743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vs scratch CNN: 46%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2743200" cy="2286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89%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M4 DistilBERT</a:t>
            </a:r>
            <a:br/>
            <a:r>
              <a:t>macro-F1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840480"/>
            <a:ext cx="2743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Best of 3 text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371600"/>
            <a:ext cx="2743200" cy="2286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88%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M5 RAG</a:t>
            </a:r>
            <a:br/>
            <a:r>
              <a:t>reduces hallucination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840480"/>
            <a:ext cx="2743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vs ungrounded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10332720" cy="17373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46320"/>
            <a:ext cx="978408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500" b="1">
                <a:solidFill>
                  <a:srgbClr val="2980B9"/>
                </a:solidFill>
                <a:latin typeface="Calibri"/>
              </a:defRPr>
            </a:pPr>
            <a:r>
              <a:t>Honest Finding (per the brief)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257800"/>
            <a:ext cx="9784080" cy="1280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300" b="0">
                <a:solidFill>
                  <a:srgbClr val="2C3E50"/>
                </a:solidFill>
                <a:latin typeface="Calibri"/>
              </a:defRPr>
            </a:pPr>
            <a:r>
              <a:t>On binary sentiment, TF-IDF (F1=0.864) actually beats Sentence Embeddings (F1=0.826) and is 7× faster. Bigger model ≠ better. Choose representations with evidence, not by reflex.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Milestone 0 — Data Preparation &amp; EDA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Honest data quality analysis before any modelling</a:t>
            </a:r>
          </a:p>
        </p:txBody>
      </p:sp>
      <p:pic>
        <p:nvPicPr>
          <p:cNvPr id="4" name="Picture 3" descr="00_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280160"/>
            <a:ext cx="34747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600" b="1">
                <a:solidFill>
                  <a:srgbClr val="2980B9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73736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66% of reviews are 5-star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→ Macro-F1 reporting required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43% of products miss prices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→ Handled via missing flag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Image links break over time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→ All cached locally during M0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Product-level split verified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→ Zero leakage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Milestone 1 — Tabular MLP (10%)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Rating band classification: low / medium / high</a:t>
            </a:r>
          </a:p>
        </p:txBody>
      </p:sp>
      <p:pic>
        <p:nvPicPr>
          <p:cNvPr id="4" name="Picture 3" descr="01_m1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280160"/>
            <a:ext cx="34747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600" b="1">
                <a:solidFill>
                  <a:srgbClr val="2980B9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7373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LogReg baseline F1: 0.372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MLP F1: 0.428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+15.0%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114800"/>
            <a:ext cx="34747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400" b="1">
                <a:solidFill>
                  <a:srgbClr val="27AE60"/>
                </a:solidFill>
                <a:latin typeface="Calibri"/>
              </a:defRPr>
            </a:pPr>
            <a:r>
              <a:t>Stretch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48056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BatchNorm + Dropout (0.3)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EarlyStopping patience=10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Class weighting for imbalance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Milestone 2 — Computer Vision (15%)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From-scratch CNN vs MobileNetV2 transfer learning</a:t>
            </a:r>
          </a:p>
        </p:txBody>
      </p:sp>
      <p:pic>
        <p:nvPicPr>
          <p:cNvPr id="4" name="Picture 3" descr="02_m2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760720" cy="5212080"/>
          </a:xfrm>
          <a:prstGeom prst="rect">
            <a:avLst/>
          </a:prstGeom>
        </p:spPr>
      </p:pic>
      <p:pic>
        <p:nvPicPr>
          <p:cNvPr id="5" name="Picture 4" descr="03_m2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4864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Calibri"/>
              </a:defRPr>
            </a:pPr>
            <a:r>
              <a:t>MobileNetV2: 0.631 accuracy, 0.611 macro-F1  |  Transfer wins with HALF the parameters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Milestone 3 — Text &amp; Embeddings (15%)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TF-IDF vs Embeddings + semantic search</a:t>
            </a:r>
          </a:p>
        </p:txBody>
      </p:sp>
      <p:pic>
        <p:nvPicPr>
          <p:cNvPr id="4" name="Picture 3" descr="05_m3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955279" cy="2743200"/>
          </a:xfrm>
          <a:prstGeom prst="rect">
            <a:avLst/>
          </a:prstGeom>
        </p:spPr>
      </p:pic>
      <p:pic>
        <p:nvPicPr>
          <p:cNvPr id="5" name="Picture 4" descr="04_m3_embedding_ts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0"/>
            <a:ext cx="3749039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023360"/>
            <a:ext cx="1161288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600" b="1">
                <a:solidFill>
                  <a:srgbClr val="E67E22"/>
                </a:solidFill>
                <a:latin typeface="Calibri"/>
              </a:defRPr>
            </a:pPr>
            <a:r>
              <a:t>Honest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434840"/>
            <a:ext cx="11612880" cy="1645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300" b="0">
                <a:solidFill>
                  <a:srgbClr val="2C3E50"/>
                </a:solidFill>
                <a:latin typeface="Calibri"/>
              </a:defRPr>
            </a:pPr>
            <a:r>
              <a:t>TF-IDF beats Sentence Embeddings on this sentiment task (F1=0.864 vs 0.826) and is 7× faster. Toy reviews are dominated by simple lexical cues ("great", "broke") which TF-IDF captures directly. Embeddings shine in Part (b) — semantic search over 15,000 products — where paraphrase invariance matters. Stretch goal: t-SNE shows clear category clusters in the embedding 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Milestone 4 — Transformers / DistilBERT (15%)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Fine-tuned transformer with direct comparison vs M3</a:t>
            </a:r>
          </a:p>
        </p:txBody>
      </p:sp>
      <p:pic>
        <p:nvPicPr>
          <p:cNvPr id="4" name="Picture 3" descr="06_m4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955279" cy="2926080"/>
          </a:xfrm>
          <a:prstGeom prst="rect">
            <a:avLst/>
          </a:prstGeom>
        </p:spPr>
      </p:pic>
      <p:pic>
        <p:nvPicPr>
          <p:cNvPr id="5" name="Picture 4" descr="07_m4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0"/>
            <a:ext cx="3749039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206240"/>
            <a:ext cx="1161288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400" b="1">
                <a:solidFill>
                  <a:srgbClr val="1E2761"/>
                </a:solidFill>
                <a:latin typeface="Calibri"/>
              </a:defRPr>
            </a:pPr>
            <a:r>
              <a:t>When does the transformer earn its 100× training cost?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617720"/>
            <a:ext cx="11612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DistilBERT: F1 = 0.891 (best of 3 text models)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Short reviews (&lt;50 chars): 95% accuracy — TF-IDF would do almost as well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Long reviews (500+ chars): 88% accuracy — drops due to 128-token limit + mixed opinions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Stretch goal: attention visualization + length-based error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Milestone 5 — LLMs, RAG, Fine-tuning (20%)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Llama 3.1 + retrieval-augmented generation + T5 fine-tune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800" b="1">
                <a:solidFill>
                  <a:srgbClr val="9B59B6"/>
                </a:solidFill>
                <a:latin typeface="Calibri"/>
              </a:defRPr>
            </a:pPr>
            <a:r>
              <a:t>Two Components Delivered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486400" cy="1645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Review Summarizer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Llama 3.1 produces structured Pros/Cons from real review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486400" cy="16459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 Grounded RAG Q&amp;A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M3 embeddings retrieve top-3 → Llama answers grounded in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800" b="1">
                <a:solidFill>
                  <a:srgbClr val="E67E22"/>
                </a:solidFill>
                <a:latin typeface="Calibri"/>
              </a:defRPr>
            </a:pPr>
            <a:r>
              <a:t>Stretch Goal: Hallucination Measurement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97680"/>
            <a:ext cx="5486400" cy="21031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Ungrounded LLM</a:t>
            </a:r>
          </a:p>
          <a:p>
            <a:pPr algn="ctr">
              <a:defRPr sz="6000" b="1">
                <a:solidFill>
                  <a:srgbClr val="FFFFFF"/>
                </a:solidFill>
              </a:defRPr>
            </a:pPr>
            <a:r>
              <a:t>8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fabricated product names (5 questions)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486400" cy="21031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Grounded RAG</a:t>
            </a:r>
          </a:p>
          <a:p>
            <a:pPr algn="ctr">
              <a:defRPr sz="60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fabricated → 88% reduction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Milestone 6 — Diffusion / Generative AI (10%)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Stable Diffusion v1.5 + honest analysis of failure modes</a:t>
            </a:r>
          </a:p>
        </p:txBody>
      </p:sp>
      <p:pic>
        <p:nvPicPr>
          <p:cNvPr id="4" name="Picture 3" descr="08_m6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229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280160"/>
            <a:ext cx="3291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400" b="1">
                <a:solidFill>
                  <a:srgbClr val="27AE60"/>
                </a:solidFill>
                <a:latin typeface="Calibri"/>
              </a:defRPr>
            </a:pPr>
            <a:r>
              <a:t>Successes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916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Lifestyle composition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Lighting and style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Generic, brandless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3474720"/>
            <a:ext cx="3291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400" b="1">
                <a:solidFill>
                  <a:srgbClr val="E74C3C"/>
                </a:solidFill>
                <a:latin typeface="Calibri"/>
              </a:defRPr>
            </a:pPr>
            <a:r>
              <a:t>Failure modes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8862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Brands NOT recognized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(Funko, Playmobil, Octonauts)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Text in images = gibberish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Exact counts/sizes ignored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Licensed chars blocked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852160"/>
            <a:ext cx="11887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Calibri"/>
              </a:defRPr>
            </a:pPr>
            <a:r>
              <a:t>Conclusion: generation is for marketing imagery, not a product-photo replacement.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Milestone 7 — Integration (15%)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All six models combined into one Smart Product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7315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⭐ Rating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39"/>
            <a:ext cx="7315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300" b="0">
                <a:solidFill>
                  <a:srgbClr val="95A5A6"/>
                </a:solidFill>
                <a:latin typeface="Calibri"/>
              </a:defRPr>
            </a:pPr>
            <a:r>
              <a:t>Tabular input → low/medium/high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417319"/>
            <a:ext cx="1097280" cy="5029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13716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7315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📸 Image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7315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300" b="0">
                <a:solidFill>
                  <a:srgbClr val="95A5A6"/>
                </a:solidFill>
                <a:latin typeface="Calibri"/>
              </a:defRPr>
            </a:pPr>
            <a:r>
              <a:t>Upload image → 1 of 6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377440"/>
            <a:ext cx="109728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3716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7315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🔍 Semantic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7315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300" b="0">
                <a:solidFill>
                  <a:srgbClr val="95A5A6"/>
                </a:solidFill>
                <a:latin typeface="Calibri"/>
              </a:defRPr>
            </a:pPr>
            <a:r>
              <a:t>Text query → similar products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3337560"/>
            <a:ext cx="109728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137160" cy="8229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7315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📝 Pros &amp; 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7315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300" b="0">
                <a:solidFill>
                  <a:srgbClr val="95A5A6"/>
                </a:solidFill>
                <a:latin typeface="Calibri"/>
              </a:defRPr>
            </a:pPr>
            <a:r>
              <a:t>Product → structured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4297680"/>
            <a:ext cx="109728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3716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7315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💬 Grounded 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731520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300" b="0">
                <a:solidFill>
                  <a:srgbClr val="95A5A6"/>
                </a:solidFill>
                <a:latin typeface="Calibri"/>
              </a:defRPr>
            </a:pPr>
            <a:r>
              <a:t>Question → review-based answer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5257800"/>
            <a:ext cx="109728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300" b="0">
                <a:solidFill>
                  <a:srgbClr val="1E2761"/>
                </a:solidFill>
                <a:latin typeface="Calibri"/>
              </a:defRPr>
            </a:pPr>
            <a:r>
              <a:t>All wrapped in a Streamlit interface (app/app.py). The brief: integrate, don't introduce new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Lessons &amp; Honest Findings</a:t>
            </a:r>
          </a:p>
          <a:p>
            <a:pPr>
              <a:defRPr sz="1300" i="1">
                <a:solidFill>
                  <a:srgbClr val="CADCFC"/>
                </a:solidFill>
                <a:latin typeface="Calibri"/>
              </a:defRPr>
            </a:pPr>
            <a:r>
              <a:t>What this project taught me about deep learning in 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731520" cy="7315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88720"/>
            <a:ext cx="10058400" cy="411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600" b="1">
                <a:solidFill>
                  <a:srgbClr val="2980B9"/>
                </a:solidFill>
                <a:latin typeface="Calibri"/>
              </a:defRPr>
            </a:pPr>
            <a:r>
              <a:t>Bigger isn't always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1005840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200" b="0">
                <a:solidFill>
                  <a:srgbClr val="2C3E50"/>
                </a:solidFill>
                <a:latin typeface="Calibri"/>
              </a:defRPr>
            </a:pPr>
            <a:r>
              <a:t>TF-IDF beats Sentence Embeddings on this sentiment task — 7× faster and slightly more accurate.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24028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10058400" cy="411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600" b="1">
                <a:solidFill>
                  <a:srgbClr val="27AE60"/>
                </a:solidFill>
                <a:latin typeface="Calibri"/>
              </a:defRPr>
            </a:pPr>
            <a:r>
              <a:t>Transfer learning is the right default for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200" b="0">
                <a:solidFill>
                  <a:srgbClr val="2C3E50"/>
                </a:solidFill>
                <a:latin typeface="Calibri"/>
              </a:defRPr>
            </a:pPr>
            <a:r>
              <a:t>MobileNetV2 hit 66% accuracy with HALF the parameters of a scratch CNN that severely overfits.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39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39"/>
            <a:ext cx="10058400" cy="411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600" b="1">
                <a:solidFill>
                  <a:srgbClr val="1E2761"/>
                </a:solidFill>
                <a:latin typeface="Calibri"/>
              </a:defRPr>
            </a:pPr>
            <a:r>
              <a:t>Transformers don't always justify their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49039"/>
            <a:ext cx="1005840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200" b="0">
                <a:solidFill>
                  <a:srgbClr val="2C3E50"/>
                </a:solidFill>
                <a:latin typeface="Calibri"/>
              </a:defRPr>
            </a:pPr>
            <a:r>
              <a:t>DistilBERT only earns its 100× training cost on long, nuanced reviews. Short reviews? TF-IDF is enough.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343400"/>
            <a:ext cx="731520" cy="7315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43400"/>
            <a:ext cx="10058400" cy="411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600" b="1">
                <a:solidFill>
                  <a:srgbClr val="E67E22"/>
                </a:solidFill>
                <a:latin typeface="Calibri"/>
              </a:defRPr>
            </a:pPr>
            <a:r>
              <a:t>RAG is the cheap fix for LLM 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800600"/>
            <a:ext cx="1005840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200" b="0">
                <a:solidFill>
                  <a:srgbClr val="2C3E50"/>
                </a:solidFill>
                <a:latin typeface="Calibri"/>
              </a:defRPr>
            </a:pPr>
            <a:r>
              <a:t>Grounding Llama in retrieved review text reduced fabricated product names by 88%.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394959"/>
            <a:ext cx="731520" cy="7315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394959"/>
            <a:ext cx="10058400" cy="411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600" b="1">
                <a:solidFill>
                  <a:srgbClr val="9B59B6"/>
                </a:solidFill>
                <a:latin typeface="Calibri"/>
              </a:defRPr>
            </a:pPr>
            <a:r>
              <a:t>Generative AI has clear limits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852159"/>
            <a:ext cx="1005840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200" b="0">
                <a:solidFill>
                  <a:srgbClr val="2C3E50"/>
                </a:solidFill>
                <a:latin typeface="Calibri"/>
              </a:defRPr>
            </a:pPr>
            <a:r>
              <a:t>Stable Diffusion handles generic products well but fails on brands, text, and specific counts/sizes.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2400" b="0">
                <a:solidFill>
                  <a:srgbClr val="CADCFC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297680"/>
            <a:ext cx="2103120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GitHub Repository: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2000" b="1">
                <a:solidFill>
                  <a:srgbClr val="2980B9"/>
                </a:solidFill>
                <a:latin typeface="Calibri"/>
              </a:defRPr>
            </a:pPr>
            <a:r>
              <a:t>github.com/Eltun5/smart-product-intelligence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Eltun  •  Khazar University  •  Hands-on Deep Learning  •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